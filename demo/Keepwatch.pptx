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sessions/gracious-sharp-clarke/unpacked/ppt/media/image1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16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0C8FF"/>
          </a:solidFill>
          <a:ln w="12700">
            <a:solidFill>
              <a:srgbClr val="00C8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01752"/>
            <a:ext cx="8412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the EPL Works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02920" y="832104"/>
            <a:ext cx="1005840" cy="45720"/>
          </a:xfrm>
          <a:prstGeom prst="rect">
            <a:avLst/>
          </a:prstGeom>
          <a:solidFill>
            <a:srgbClr val="00C8FF"/>
          </a:solidFill>
          <a:ln w="12700">
            <a:solidFill>
              <a:srgbClr val="00C8F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02920" y="969264"/>
            <a:ext cx="1280160" cy="256032"/>
          </a:xfrm>
          <a:prstGeom prst="rect">
            <a:avLst/>
          </a:prstGeom>
          <a:solidFill>
            <a:srgbClr val="00C8FF"/>
          </a:solidFill>
          <a:ln w="12700">
            <a:solidFill>
              <a:srgbClr val="00C8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969264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B16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1920240" y="969264"/>
            <a:ext cx="6766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D6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clubs — every team plays every other team, Home and Away (38 games each).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02920" y="1335024"/>
            <a:ext cx="1280160" cy="256032"/>
          </a:xfrm>
          <a:prstGeom prst="rect">
            <a:avLst/>
          </a:prstGeom>
          <a:solidFill>
            <a:srgbClr val="0099CC"/>
          </a:solidFill>
          <a:ln w="12700">
            <a:solidFill>
              <a:srgbClr val="0099C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" y="1335024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B16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SCORING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1920240" y="1261872"/>
            <a:ext cx="1234440" cy="548640"/>
          </a:xfrm>
          <a:prstGeom prst="rect">
            <a:avLst/>
          </a:prstGeom>
          <a:solidFill>
            <a:srgbClr val="132052"/>
          </a:solidFill>
          <a:ln w="6350">
            <a:solidFill>
              <a:srgbClr val="1E358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1920240" y="1261872"/>
            <a:ext cx="1234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6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920240" y="1581912"/>
            <a:ext cx="1234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6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337560" y="1261872"/>
            <a:ext cx="1234440" cy="548640"/>
          </a:xfrm>
          <a:prstGeom prst="rect">
            <a:avLst/>
          </a:prstGeom>
          <a:solidFill>
            <a:srgbClr val="132052"/>
          </a:solidFill>
          <a:ln w="6350">
            <a:solidFill>
              <a:srgbClr val="1E358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337560" y="1261872"/>
            <a:ext cx="1234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3337560" y="1581912"/>
            <a:ext cx="1234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6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Draw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754880" y="1261872"/>
            <a:ext cx="1234440" cy="548640"/>
          </a:xfrm>
          <a:prstGeom prst="rect">
            <a:avLst/>
          </a:prstGeom>
          <a:solidFill>
            <a:srgbClr val="132052"/>
          </a:solidFill>
          <a:ln w="6350">
            <a:solidFill>
              <a:srgbClr val="1E358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754880" y="1261872"/>
            <a:ext cx="1234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EF4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4754880" y="1581912"/>
            <a:ext cx="1234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6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Loss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309360" y="1335024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D6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pts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02920" y="1938528"/>
            <a:ext cx="8412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00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THE END OF THE SEASON, THERE ARE 4 POSSIBLE OUTCOMES: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502920" y="2231136"/>
            <a:ext cx="1984248" cy="2176272"/>
          </a:xfrm>
          <a:prstGeom prst="rect">
            <a:avLst/>
          </a:prstGeom>
          <a:solidFill>
            <a:srgbClr val="132052"/>
          </a:solidFill>
          <a:ln w="6350">
            <a:solidFill>
              <a:srgbClr val="1E358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502920" y="2231136"/>
            <a:ext cx="1984248" cy="73152"/>
          </a:xfrm>
          <a:prstGeom prst="rect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94360" y="2386584"/>
            <a:ext cx="18013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1st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594360" y="2724912"/>
            <a:ext cx="18013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Champion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30936" y="3145536"/>
            <a:ext cx="1728216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6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League title — the best possible outcome.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2679192" y="2231136"/>
            <a:ext cx="1984248" cy="2176272"/>
          </a:xfrm>
          <a:prstGeom prst="rect">
            <a:avLst/>
          </a:prstGeom>
          <a:solidFill>
            <a:srgbClr val="132052"/>
          </a:solidFill>
          <a:ln w="6350">
            <a:solidFill>
              <a:srgbClr val="1E358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0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2679192" y="2231136"/>
            <a:ext cx="1984248" cy="73152"/>
          </a:xfrm>
          <a:prstGeom prst="rect">
            <a:avLst/>
          </a:prstGeom>
          <a:solidFill>
            <a:srgbClr val="00C8FF"/>
          </a:solidFill>
          <a:ln w="12700">
            <a:solidFill>
              <a:srgbClr val="00C8FF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770632" y="2386584"/>
            <a:ext cx="18013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4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2770632" y="2724912"/>
            <a:ext cx="18013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Champions League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2807208" y="3145536"/>
            <a:ext cx="1728216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6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European football the following season.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4855464" y="2231136"/>
            <a:ext cx="1984248" cy="2176272"/>
          </a:xfrm>
          <a:prstGeom prst="rect">
            <a:avLst/>
          </a:prstGeom>
          <a:solidFill>
            <a:srgbClr val="132052"/>
          </a:solidFill>
          <a:ln w="6350">
            <a:solidFill>
              <a:srgbClr val="1E358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0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4855464" y="2231136"/>
            <a:ext cx="1984248" cy="73152"/>
          </a:xfrm>
          <a:prstGeom prst="rect">
            <a:avLst/>
          </a:prstGeom>
          <a:solidFill>
            <a:srgbClr val="7BA7E0"/>
          </a:solidFill>
          <a:ln w="12700">
            <a:solidFill>
              <a:srgbClr val="7BA7E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946904" y="2386584"/>
            <a:ext cx="18013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7BA7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5th – 7th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4946904" y="2724912"/>
            <a:ext cx="18013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Europa / Conf.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4983480" y="3145536"/>
            <a:ext cx="1728216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6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Continental football. Decent, but not the dream.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7031736" y="2231136"/>
            <a:ext cx="1984248" cy="2176272"/>
          </a:xfrm>
          <a:prstGeom prst="rect">
            <a:avLst/>
          </a:prstGeom>
          <a:solidFill>
            <a:srgbClr val="132052"/>
          </a:solidFill>
          <a:ln w="6350">
            <a:solidFill>
              <a:srgbClr val="1E358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0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7031736" y="2231136"/>
            <a:ext cx="1984248" cy="73152"/>
          </a:xfrm>
          <a:prstGeom prst="rect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7123176" y="2386584"/>
            <a:ext cx="18013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F4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18th–20th</a:t>
            </a:r>
            <a:endParaRPr lang="en-US" sz="1300" dirty="0"/>
          </a:p>
        </p:txBody>
      </p:sp>
      <p:sp>
        <p:nvSpPr>
          <p:cNvPr id="39" name="Text 37"/>
          <p:cNvSpPr/>
          <p:nvPr/>
        </p:nvSpPr>
        <p:spPr>
          <a:xfrm>
            <a:off x="7123176" y="2724912"/>
            <a:ext cx="18013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Relegated</a:t>
            </a:r>
            <a:endParaRPr lang="en-US" sz="1300" dirty="0"/>
          </a:p>
        </p:txBody>
      </p:sp>
      <p:sp>
        <p:nvSpPr>
          <p:cNvPr id="40" name="Text 38"/>
          <p:cNvSpPr/>
          <p:nvPr/>
        </p:nvSpPr>
        <p:spPr>
          <a:xfrm>
            <a:off x="7159752" y="3145536"/>
            <a:ext cx="1728216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6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 to the Championship. Catastrophic.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16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0C8FF"/>
          </a:solidFill>
          <a:ln w="12700">
            <a:solidFill>
              <a:srgbClr val="00C8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01752"/>
            <a:ext cx="8412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Questions I Was Trying to Answer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02920" y="832104"/>
            <a:ext cx="1005840" cy="45720"/>
          </a:xfrm>
          <a:prstGeom prst="rect">
            <a:avLst/>
          </a:prstGeom>
          <a:solidFill>
            <a:srgbClr val="00C8FF"/>
          </a:solidFill>
          <a:ln w="12700">
            <a:solidFill>
              <a:srgbClr val="00C8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932688"/>
            <a:ext cx="8412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6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7 games left, fans and analysts face the same impossible questions: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02920" y="1298448"/>
            <a:ext cx="8229600" cy="640080"/>
          </a:xfrm>
          <a:prstGeom prst="rect">
            <a:avLst/>
          </a:prstGeom>
          <a:solidFill>
            <a:srgbClr val="132052"/>
          </a:solidFill>
          <a:ln w="6350">
            <a:solidFill>
              <a:srgbClr val="1E358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02920" y="1298448"/>
            <a:ext cx="64008" cy="640080"/>
          </a:xfrm>
          <a:prstGeom prst="rect">
            <a:avLst/>
          </a:prstGeom>
          <a:solidFill>
            <a:srgbClr val="00C8FF"/>
          </a:solidFill>
          <a:ln w="12700">
            <a:solidFill>
              <a:srgbClr val="00C8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49808" y="1389888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Outcome Odds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2788920" y="1444752"/>
            <a:ext cx="36576" cy="347472"/>
          </a:xfrm>
          <a:prstGeom prst="rect">
            <a:avLst/>
          </a:prstGeom>
          <a:solidFill>
            <a:srgbClr val="0099CC"/>
          </a:solidFill>
          <a:ln w="12700">
            <a:solidFill>
              <a:srgbClr val="0099C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944368" y="1371600"/>
            <a:ext cx="56692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6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are the real, quantified odds that Team X wins the title, qualifies for Europe, or gets relegated?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02920" y="2020824"/>
            <a:ext cx="8229600" cy="640080"/>
          </a:xfrm>
          <a:prstGeom prst="rect">
            <a:avLst/>
          </a:prstGeom>
          <a:solidFill>
            <a:srgbClr val="132052"/>
          </a:solidFill>
          <a:ln w="6350">
            <a:solidFill>
              <a:srgbClr val="1E358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502920" y="2020824"/>
            <a:ext cx="64008" cy="640080"/>
          </a:xfrm>
          <a:prstGeom prst="rect">
            <a:avLst/>
          </a:prstGeom>
          <a:solidFill>
            <a:srgbClr val="00C8FF"/>
          </a:solidFill>
          <a:ln w="12700">
            <a:solidFill>
              <a:srgbClr val="00C8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49808" y="2112264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Game Importance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2788920" y="2167128"/>
            <a:ext cx="36576" cy="347472"/>
          </a:xfrm>
          <a:prstGeom prst="rect">
            <a:avLst/>
          </a:prstGeom>
          <a:solidFill>
            <a:srgbClr val="0099CC"/>
          </a:solidFill>
          <a:ln w="12700">
            <a:solidFill>
              <a:srgbClr val="0099C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944368" y="2093976"/>
            <a:ext cx="56692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6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the remaining 7 fixtures, which are the highest leverage? Where should a team focus its energy?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02920" y="2743200"/>
            <a:ext cx="8229600" cy="640080"/>
          </a:xfrm>
          <a:prstGeom prst="rect">
            <a:avLst/>
          </a:prstGeom>
          <a:solidFill>
            <a:srgbClr val="132052"/>
          </a:solidFill>
          <a:ln w="6350">
            <a:solidFill>
              <a:srgbClr val="1E358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502920" y="2743200"/>
            <a:ext cx="64008" cy="640080"/>
          </a:xfrm>
          <a:prstGeom prst="rect">
            <a:avLst/>
          </a:prstGeom>
          <a:solidFill>
            <a:srgbClr val="00C8FF"/>
          </a:solidFill>
          <a:ln w="12700">
            <a:solidFill>
              <a:srgbClr val="00C8F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49808" y="283464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Scenario Testing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2788920" y="2889504"/>
            <a:ext cx="36576" cy="347472"/>
          </a:xfrm>
          <a:prstGeom prst="rect">
            <a:avLst/>
          </a:prstGeom>
          <a:solidFill>
            <a:srgbClr val="0099CC"/>
          </a:solidFill>
          <a:ln w="12700">
            <a:solidFill>
              <a:srgbClr val="0099C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944368" y="2816352"/>
            <a:ext cx="56692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6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Team X wins Game A but loses Game B — how do outcome probabilities shift? Calculated instantly.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502920" y="3465576"/>
            <a:ext cx="8229600" cy="640080"/>
          </a:xfrm>
          <a:prstGeom prst="rect">
            <a:avLst/>
          </a:prstGeom>
          <a:solidFill>
            <a:srgbClr val="132052"/>
          </a:solidFill>
          <a:ln w="6350">
            <a:solidFill>
              <a:srgbClr val="1E358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502920" y="3465576"/>
            <a:ext cx="64008" cy="640080"/>
          </a:xfrm>
          <a:prstGeom prst="rect">
            <a:avLst/>
          </a:prstGeom>
          <a:solidFill>
            <a:srgbClr val="00C8FF"/>
          </a:solidFill>
          <a:ln w="12700">
            <a:solidFill>
              <a:srgbClr val="00C8F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49808" y="3557016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Multi-Scenario View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2788920" y="3611880"/>
            <a:ext cx="36576" cy="347472"/>
          </a:xfrm>
          <a:prstGeom prst="rect">
            <a:avLst/>
          </a:prstGeom>
          <a:solidFill>
            <a:srgbClr val="0099CC"/>
          </a:solidFill>
          <a:ln w="12700">
            <a:solidFill>
              <a:srgbClr val="0099C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944368" y="3538728"/>
            <a:ext cx="56692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6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several scenarios side by side and compare their impact on final standings at a glance.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502920" y="4187952"/>
            <a:ext cx="8229600" cy="640080"/>
          </a:xfrm>
          <a:prstGeom prst="rect">
            <a:avLst/>
          </a:prstGeom>
          <a:solidFill>
            <a:srgbClr val="132052"/>
          </a:solidFill>
          <a:ln w="6350">
            <a:solidFill>
              <a:srgbClr val="1E358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0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502920" y="4187952"/>
            <a:ext cx="64008" cy="640080"/>
          </a:xfrm>
          <a:prstGeom prst="rect">
            <a:avLst/>
          </a:prstGeom>
          <a:solidFill>
            <a:srgbClr val="00C8FF"/>
          </a:solidFill>
          <a:ln w="12700">
            <a:solidFill>
              <a:srgbClr val="00C8FF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49808" y="4279392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Hindsight Analysis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2788920" y="4334256"/>
            <a:ext cx="36576" cy="347472"/>
          </a:xfrm>
          <a:prstGeom prst="rect">
            <a:avLst/>
          </a:prstGeom>
          <a:solidFill>
            <a:srgbClr val="0099CC"/>
          </a:solidFill>
          <a:ln w="12700">
            <a:solidFill>
              <a:srgbClr val="0099CC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944368" y="4261104"/>
            <a:ext cx="56692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6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Knowing what we know now — how could Team X have acted differently 12 months ago to change their fate?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16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0C8FF"/>
          </a:solidFill>
          <a:ln w="12700">
            <a:solidFill>
              <a:srgbClr val="00C8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01752"/>
            <a:ext cx="8412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Ideal App Looks Like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02920" y="832104"/>
            <a:ext cx="1005840" cy="45720"/>
          </a:xfrm>
          <a:prstGeom prst="rect">
            <a:avLst/>
          </a:prstGeom>
          <a:solidFill>
            <a:srgbClr val="00C8FF"/>
          </a:solidFill>
          <a:ln w="12700">
            <a:solidFill>
              <a:srgbClr val="00C8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932688"/>
            <a:ext cx="8412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6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escalating layers of insight — from facts to strategy: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02920" y="1298448"/>
            <a:ext cx="3931920" cy="1719072"/>
          </a:xfrm>
          <a:prstGeom prst="rect">
            <a:avLst/>
          </a:prstGeom>
          <a:solidFill>
            <a:srgbClr val="132052"/>
          </a:solidFill>
          <a:ln w="6350">
            <a:solidFill>
              <a:srgbClr val="1E358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02920" y="1298448"/>
            <a:ext cx="3931920" cy="73152"/>
          </a:xfrm>
          <a:prstGeom prst="rect">
            <a:avLst/>
          </a:prstGeom>
          <a:solidFill>
            <a:srgbClr val="00C8FF"/>
          </a:solidFill>
          <a:ln w="12700">
            <a:solidFill>
              <a:srgbClr val="00C8F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40080" y="1435608"/>
            <a:ext cx="1051560" cy="246888"/>
          </a:xfrm>
          <a:prstGeom prst="rect">
            <a:avLst/>
          </a:prstGeom>
          <a:solidFill>
            <a:srgbClr val="00C8FF"/>
          </a:solidFill>
          <a:ln w="12700">
            <a:solidFill>
              <a:srgbClr val="00C8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1435608"/>
            <a:ext cx="10515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B16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WHAT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640080" y="1755648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Probabilities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40080" y="2103120"/>
            <a:ext cx="3657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6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live, real-time snapshot: the odds of every outcome for every club — right now, based on this week's actual results and fixtures.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709160" y="1298448"/>
            <a:ext cx="3931920" cy="1719072"/>
          </a:xfrm>
          <a:prstGeom prst="rect">
            <a:avLst/>
          </a:prstGeom>
          <a:solidFill>
            <a:srgbClr val="132052"/>
          </a:solidFill>
          <a:ln w="6350">
            <a:solidFill>
              <a:srgbClr val="1E358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709160" y="1298448"/>
            <a:ext cx="3931920" cy="73152"/>
          </a:xfrm>
          <a:prstGeom prst="rect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846320" y="1435608"/>
            <a:ext cx="1051560" cy="246888"/>
          </a:xfrm>
          <a:prstGeom prst="rect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846320" y="1435608"/>
            <a:ext cx="10515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B16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SO WHAT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4846320" y="1755648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Scenario Explorer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4846320" y="2103120"/>
            <a:ext cx="3657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6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if Newcastle beat Arsenal but lose to Palace? What if they lose their goalkeeper to injury? Play with any scenario and instantly see probabilities shift.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502920" y="3108960"/>
            <a:ext cx="3931920" cy="1719072"/>
          </a:xfrm>
          <a:prstGeom prst="rect">
            <a:avLst/>
          </a:prstGeom>
          <a:solidFill>
            <a:srgbClr val="132052"/>
          </a:solidFill>
          <a:ln w="6350">
            <a:solidFill>
              <a:srgbClr val="1E358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502920" y="3108960"/>
            <a:ext cx="3931920" cy="73152"/>
          </a:xfrm>
          <a:prstGeom prst="rect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40080" y="3246120"/>
            <a:ext cx="1051560" cy="246888"/>
          </a:xfrm>
          <a:prstGeom prst="rect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40080" y="3246120"/>
            <a:ext cx="10515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B16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WHAT NOW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640080" y="356616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Dive Analysis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640080" y="3913632"/>
            <a:ext cx="3657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6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 a team and a valid scenario. Keepwatch deep-dives: given these constraints, what ACTUALLY matters in the remaining 7 games? Where is the highest leverage?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709160" y="3108960"/>
            <a:ext cx="3931920" cy="1719072"/>
          </a:xfrm>
          <a:prstGeom prst="rect">
            <a:avLst/>
          </a:prstGeom>
          <a:solidFill>
            <a:srgbClr val="132052"/>
          </a:solidFill>
          <a:ln w="6350">
            <a:solidFill>
              <a:srgbClr val="1E358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709160" y="3108960"/>
            <a:ext cx="3931920" cy="73152"/>
          </a:xfrm>
          <a:prstGeom prst="rect">
            <a:avLst/>
          </a:prstGeom>
          <a:solidFill>
            <a:srgbClr val="9B72CF"/>
          </a:solidFill>
          <a:ln w="12700">
            <a:solidFill>
              <a:srgbClr val="9B72CF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846320" y="3246120"/>
            <a:ext cx="1051560" cy="246888"/>
          </a:xfrm>
          <a:prstGeom prst="rect">
            <a:avLst/>
          </a:prstGeom>
          <a:solidFill>
            <a:srgbClr val="9B72CF"/>
          </a:solidFill>
          <a:ln w="12700">
            <a:solidFill>
              <a:srgbClr val="9B72C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846320" y="3246120"/>
            <a:ext cx="10515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B16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WHAT IF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4846320" y="356616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Impossible Scenarios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4846320" y="3913632"/>
            <a:ext cx="3657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6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Beyond today's mathematical reality — if you could go back 12 months, which paths or decisions could have unlocked a route to success that no longer exists?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16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0C8FF"/>
          </a:solidFill>
          <a:ln w="12700">
            <a:solidFill>
              <a:srgbClr val="00C8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01752"/>
            <a:ext cx="8412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Keepwatch Is Built — The Inputs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02920" y="832104"/>
            <a:ext cx="1005840" cy="45720"/>
          </a:xfrm>
          <a:prstGeom prst="rect">
            <a:avLst/>
          </a:prstGeom>
          <a:solidFill>
            <a:srgbClr val="00C8FF"/>
          </a:solidFill>
          <a:ln w="12700">
            <a:solidFill>
              <a:srgbClr val="00C8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932688"/>
            <a:ext cx="8412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6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data and intelligence layers working in combination: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02920" y="1298448"/>
            <a:ext cx="2633472" cy="1508760"/>
          </a:xfrm>
          <a:prstGeom prst="rect">
            <a:avLst/>
          </a:prstGeom>
          <a:solidFill>
            <a:srgbClr val="132052"/>
          </a:solidFill>
          <a:ln w="6350">
            <a:solidFill>
              <a:srgbClr val="1E358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02920" y="1298448"/>
            <a:ext cx="2633472" cy="73152"/>
          </a:xfrm>
          <a:prstGeom prst="rect">
            <a:avLst/>
          </a:prstGeom>
          <a:solidFill>
            <a:srgbClr val="00C8FF"/>
          </a:solidFill>
          <a:ln w="12700">
            <a:solidFill>
              <a:srgbClr val="00C8F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40080" y="1453896"/>
            <a:ext cx="347472" cy="347472"/>
          </a:xfrm>
          <a:prstGeom prst="ellipse">
            <a:avLst/>
          </a:prstGeom>
          <a:solidFill>
            <a:srgbClr val="00C8FF"/>
          </a:solidFill>
          <a:ln w="12700">
            <a:solidFill>
              <a:srgbClr val="00C8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144475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16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097280" y="1453896"/>
            <a:ext cx="19019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Monte Carlo Simulation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40080" y="1865376"/>
            <a:ext cx="2359152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6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Simulates the remaining season 10,000 times. Outcome probabilities emerge from the distribution across all runs.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3300984" y="1298448"/>
            <a:ext cx="2633472" cy="1508760"/>
          </a:xfrm>
          <a:prstGeom prst="rect">
            <a:avLst/>
          </a:prstGeom>
          <a:solidFill>
            <a:srgbClr val="132052"/>
          </a:solidFill>
          <a:ln w="6350">
            <a:solidFill>
              <a:srgbClr val="1E358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300984" y="1298448"/>
            <a:ext cx="2633472" cy="73152"/>
          </a:xfrm>
          <a:prstGeom prst="rect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438144" y="1453896"/>
            <a:ext cx="347472" cy="347472"/>
          </a:xfrm>
          <a:prstGeom prst="ellipse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438144" y="144475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16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3895344" y="1453896"/>
            <a:ext cx="19019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Betting Odds API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3438144" y="1865376"/>
            <a:ext cx="2359152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6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Win/draw/loss probabilities sourced from live sportsbook odds. ELO ratings serve as an accurate fallback.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6099048" y="1298448"/>
            <a:ext cx="2633472" cy="1508760"/>
          </a:xfrm>
          <a:prstGeom prst="rect">
            <a:avLst/>
          </a:prstGeom>
          <a:solidFill>
            <a:srgbClr val="132052"/>
          </a:solidFill>
          <a:ln w="6350">
            <a:solidFill>
              <a:srgbClr val="1E358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099048" y="1298448"/>
            <a:ext cx="2633472" cy="73152"/>
          </a:xfrm>
          <a:prstGeom prst="rect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236208" y="1453896"/>
            <a:ext cx="347472" cy="347472"/>
          </a:xfrm>
          <a:prstGeom prst="ellips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236208" y="144475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16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6693408" y="1453896"/>
            <a:ext cx="19019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Results API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6236208" y="1865376"/>
            <a:ext cx="2359152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6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standings and match results fetched in real time — every simulation starts from today's actual league state.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502920" y="2935224"/>
            <a:ext cx="2633472" cy="1508760"/>
          </a:xfrm>
          <a:prstGeom prst="rect">
            <a:avLst/>
          </a:prstGeom>
          <a:solidFill>
            <a:srgbClr val="132052"/>
          </a:solidFill>
          <a:ln w="6350">
            <a:solidFill>
              <a:srgbClr val="1E358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502920" y="2935224"/>
            <a:ext cx="2633472" cy="73152"/>
          </a:xfrm>
          <a:prstGeom prst="rect">
            <a:avLst/>
          </a:prstGeom>
          <a:solidFill>
            <a:srgbClr val="9B72CF"/>
          </a:solidFill>
          <a:ln w="12700">
            <a:solidFill>
              <a:srgbClr val="9B72CF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40080" y="3090672"/>
            <a:ext cx="347472" cy="347472"/>
          </a:xfrm>
          <a:prstGeom prst="ellipse">
            <a:avLst/>
          </a:prstGeom>
          <a:solidFill>
            <a:srgbClr val="9B72CF"/>
          </a:solidFill>
          <a:ln w="12700">
            <a:solidFill>
              <a:srgbClr val="9B72C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40080" y="308152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16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1097280" y="3090672"/>
            <a:ext cx="19019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Probability Adjustment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640080" y="3502152"/>
            <a:ext cx="2359152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6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Interprets natural-language scenarios and adjusts match odds accordingly before re-running 10k simulations.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3300984" y="2935224"/>
            <a:ext cx="2633472" cy="1508760"/>
          </a:xfrm>
          <a:prstGeom prst="rect">
            <a:avLst/>
          </a:prstGeom>
          <a:solidFill>
            <a:srgbClr val="132052"/>
          </a:solidFill>
          <a:ln w="6350">
            <a:solidFill>
              <a:srgbClr val="1E358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0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3300984" y="2935224"/>
            <a:ext cx="2633472" cy="73152"/>
          </a:xfrm>
          <a:prstGeom prst="rect">
            <a:avLst/>
          </a:prstGeom>
          <a:solidFill>
            <a:srgbClr val="FF9F1C"/>
          </a:solidFill>
          <a:ln w="12700">
            <a:solidFill>
              <a:srgbClr val="FF9F1C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3438144" y="3090672"/>
            <a:ext cx="347472" cy="347472"/>
          </a:xfrm>
          <a:prstGeom prst="ellipse">
            <a:avLst/>
          </a:prstGeom>
          <a:solidFill>
            <a:srgbClr val="FF9F1C"/>
          </a:solidFill>
          <a:ln w="12700">
            <a:solidFill>
              <a:srgbClr val="FF9F1C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438144" y="308152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16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3895344" y="3090672"/>
            <a:ext cx="19019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Serper Web Research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3438144" y="3502152"/>
            <a:ext cx="2359152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6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Fast, cheap web search via Serper API — surfaces news, injury updates, and context to enrich any scenario analysis.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6099048" y="2935224"/>
            <a:ext cx="2633472" cy="1508760"/>
          </a:xfrm>
          <a:prstGeom prst="rect">
            <a:avLst/>
          </a:prstGeom>
          <a:solidFill>
            <a:srgbClr val="132052"/>
          </a:solidFill>
          <a:ln w="6350">
            <a:solidFill>
              <a:srgbClr val="1E358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0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6099048" y="2935224"/>
            <a:ext cx="2633472" cy="73152"/>
          </a:xfrm>
          <a:prstGeom prst="rect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6236208" y="3090672"/>
            <a:ext cx="347472" cy="347472"/>
          </a:xfrm>
          <a:prstGeom prst="ellipse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236208" y="308152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16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400" dirty="0"/>
          </a:p>
        </p:txBody>
      </p:sp>
      <p:sp>
        <p:nvSpPr>
          <p:cNvPr id="40" name="Text 38"/>
          <p:cNvSpPr/>
          <p:nvPr/>
        </p:nvSpPr>
        <p:spPr>
          <a:xfrm>
            <a:off x="6693408" y="3090672"/>
            <a:ext cx="19019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FIFA 26 Player Scores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6236208" y="3502152"/>
            <a:ext cx="2359152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6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Player ratings quantify individual quality and squad depth, enabling analysis of how key injuries shift win probability.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16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0" y="-1097280"/>
            <a:ext cx="5029200" cy="5029200"/>
          </a:xfrm>
          <a:prstGeom prst="ellipse">
            <a:avLst/>
          </a:prstGeom>
          <a:solidFill>
            <a:srgbClr val="00C8FF">
              <a:alpha val="12000"/>
            </a:srgbClr>
          </a:solidFill>
          <a:ln w="12700">
            <a:solidFill>
              <a:srgbClr val="00C8FF">
                <a:alpha val="2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828800" y="2560320"/>
            <a:ext cx="4114800" cy="4114800"/>
          </a:xfrm>
          <a:prstGeom prst="ellipse">
            <a:avLst/>
          </a:prstGeom>
          <a:solidFill>
            <a:srgbClr val="00C8FF">
              <a:alpha val="10000"/>
            </a:srgbClr>
          </a:solidFill>
          <a:ln w="12700">
            <a:solidFill>
              <a:srgbClr val="00C8FF">
                <a:alpha val="18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0C8FF"/>
          </a:solidFill>
          <a:ln w="12700">
            <a:solidFill>
              <a:srgbClr val="00C8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188720"/>
            <a:ext cx="76809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Demo</a:t>
            </a:r>
            <a:endParaRPr lang="en-US" sz="6000" dirty="0"/>
          </a:p>
        </p:txBody>
      </p:sp>
      <p:sp>
        <p:nvSpPr>
          <p:cNvPr id="6" name="Shape 4"/>
          <p:cNvSpPr/>
          <p:nvPr/>
        </p:nvSpPr>
        <p:spPr>
          <a:xfrm>
            <a:off x="3200400" y="2834640"/>
            <a:ext cx="2743200" cy="64008"/>
          </a:xfrm>
          <a:prstGeom prst="rect">
            <a:avLst/>
          </a:prstGeom>
          <a:solidFill>
            <a:srgbClr val="00C8FF"/>
          </a:solidFill>
          <a:ln w="12700">
            <a:solidFill>
              <a:srgbClr val="00C8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2971800"/>
            <a:ext cx="7680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Keepwatch in action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731520" y="3657600"/>
            <a:ext cx="7680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D6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Outcome Probabilities   ·   Game Importance   ·   Scenario Testing   ·   Deep Dive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16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0C8FF"/>
          </a:solidFill>
          <a:ln w="12700">
            <a:solidFill>
              <a:srgbClr val="00C8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01752"/>
            <a:ext cx="8412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Learnings — Beyond Football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02920" y="832104"/>
            <a:ext cx="1005840" cy="45720"/>
          </a:xfrm>
          <a:prstGeom prst="rect">
            <a:avLst/>
          </a:prstGeom>
          <a:solidFill>
            <a:srgbClr val="00C8FF"/>
          </a:solidFill>
          <a:ln w="12700">
            <a:solidFill>
              <a:srgbClr val="00C8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932688"/>
            <a:ext cx="8412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6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Keepwatch taught us that applies far beyond the EPL: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02920" y="1298448"/>
            <a:ext cx="8229600" cy="621792"/>
          </a:xfrm>
          <a:prstGeom prst="rect">
            <a:avLst/>
          </a:prstGeom>
          <a:solidFill>
            <a:srgbClr val="132052"/>
          </a:solidFill>
          <a:ln w="6350">
            <a:solidFill>
              <a:srgbClr val="1E358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02920" y="1298448"/>
            <a:ext cx="64008" cy="621792"/>
          </a:xfrm>
          <a:prstGeom prst="rect">
            <a:avLst/>
          </a:prstGeom>
          <a:solidFill>
            <a:srgbClr val="FF9F1C"/>
          </a:solidFill>
          <a:ln w="12700">
            <a:solidFill>
              <a:srgbClr val="FF9F1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49808" y="1362456"/>
            <a:ext cx="24231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9F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Serper beats traditional web search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3200400" y="1435608"/>
            <a:ext cx="36576" cy="347472"/>
          </a:xfrm>
          <a:prstGeom prst="rect">
            <a:avLst/>
          </a:prstGeom>
          <a:solidFill>
            <a:srgbClr val="0099CC"/>
          </a:solidFill>
          <a:ln w="12700">
            <a:solidFill>
              <a:srgbClr val="0099C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337560" y="1362456"/>
            <a:ext cx="52578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6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Fast, cheap, and highly relevant. For any tool that needs real-world context, Serper is the clear winner — and this applies directly to Gorilla.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502920" y="1993392"/>
            <a:ext cx="8229600" cy="621792"/>
          </a:xfrm>
          <a:prstGeom prst="rect">
            <a:avLst/>
          </a:prstGeom>
          <a:solidFill>
            <a:srgbClr val="132052"/>
          </a:solidFill>
          <a:ln w="6350">
            <a:solidFill>
              <a:srgbClr val="1E358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502920" y="1993392"/>
            <a:ext cx="64008" cy="621792"/>
          </a:xfrm>
          <a:prstGeom prst="rect">
            <a:avLst/>
          </a:prstGeom>
          <a:solidFill>
            <a:srgbClr val="9B72CF"/>
          </a:solidFill>
          <a:ln w="12700">
            <a:solidFill>
              <a:srgbClr val="9B72C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49808" y="2057400"/>
            <a:ext cx="24231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9B72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+ Math is the combination that matters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3200400" y="2130552"/>
            <a:ext cx="36576" cy="347472"/>
          </a:xfrm>
          <a:prstGeom prst="rect">
            <a:avLst/>
          </a:prstGeom>
          <a:solidFill>
            <a:srgbClr val="0099CC"/>
          </a:solidFill>
          <a:ln w="12700">
            <a:solidFill>
              <a:srgbClr val="0099C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337560" y="2057400"/>
            <a:ext cx="52578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6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Language models alone give you language. Simulation alone gives you numbers. Together they produce insight — and that pattern is worth repeating everywhere.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502920" y="2688336"/>
            <a:ext cx="8229600" cy="621792"/>
          </a:xfrm>
          <a:prstGeom prst="rect">
            <a:avLst/>
          </a:prstGeom>
          <a:solidFill>
            <a:srgbClr val="132052"/>
          </a:solidFill>
          <a:ln w="6350">
            <a:solidFill>
              <a:srgbClr val="1E358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502920" y="2688336"/>
            <a:ext cx="64008" cy="621792"/>
          </a:xfrm>
          <a:prstGeom prst="rect">
            <a:avLst/>
          </a:prstGeom>
          <a:solidFill>
            <a:srgbClr val="00C8FF"/>
          </a:solidFill>
          <a:ln w="12700">
            <a:solidFill>
              <a:srgbClr val="00C8F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49808" y="2752344"/>
            <a:ext cx="24231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0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Twinning IS possible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3200400" y="2825496"/>
            <a:ext cx="36576" cy="347472"/>
          </a:xfrm>
          <a:prstGeom prst="rect">
            <a:avLst/>
          </a:prstGeom>
          <a:solidFill>
            <a:srgbClr val="0099CC"/>
          </a:solidFill>
          <a:ln w="12700">
            <a:solidFill>
              <a:srgbClr val="0099C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337560" y="2752344"/>
            <a:ext cx="52578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6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Running 10,000 simulations of a complex real-world system in seconds is a proof of concept. The lessons from that scale far beyond a football league.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502920" y="3383280"/>
            <a:ext cx="8229600" cy="621792"/>
          </a:xfrm>
          <a:prstGeom prst="rect">
            <a:avLst/>
          </a:prstGeom>
          <a:solidFill>
            <a:srgbClr val="132052"/>
          </a:solidFill>
          <a:ln w="6350">
            <a:solidFill>
              <a:srgbClr val="1E358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502920" y="3383280"/>
            <a:ext cx="64008" cy="621792"/>
          </a:xfrm>
          <a:prstGeom prst="rect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49808" y="3447288"/>
            <a:ext cx="24231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6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 is critical — but UI matters too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3200400" y="3520440"/>
            <a:ext cx="36576" cy="347472"/>
          </a:xfrm>
          <a:prstGeom prst="rect">
            <a:avLst/>
          </a:prstGeom>
          <a:solidFill>
            <a:srgbClr val="0099CC"/>
          </a:solidFill>
          <a:ln w="12700">
            <a:solidFill>
              <a:srgbClr val="0099C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337560" y="3447288"/>
            <a:ext cx="52578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6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conversational interface is powerful, but a simple UI layer on top of it would dramatically improve adoption and usability of the Innovera tool.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502920" y="4078224"/>
            <a:ext cx="8229600" cy="621792"/>
          </a:xfrm>
          <a:prstGeom prst="rect">
            <a:avLst/>
          </a:prstGeom>
          <a:solidFill>
            <a:srgbClr val="132052"/>
          </a:solidFill>
          <a:ln w="6350">
            <a:solidFill>
              <a:srgbClr val="1E358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0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502920" y="4078224"/>
            <a:ext cx="64008" cy="621792"/>
          </a:xfrm>
          <a:prstGeom prst="rect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49808" y="4142232"/>
            <a:ext cx="24231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Crush complexity into a single number</a:t>
            </a:r>
            <a:endParaRPr lang="en-US" sz="1250" dirty="0"/>
          </a:p>
        </p:txBody>
      </p:sp>
      <p:sp>
        <p:nvSpPr>
          <p:cNvPr id="29" name="Shape 27"/>
          <p:cNvSpPr/>
          <p:nvPr/>
        </p:nvSpPr>
        <p:spPr>
          <a:xfrm>
            <a:off x="3200400" y="4215384"/>
            <a:ext cx="36576" cy="347472"/>
          </a:xfrm>
          <a:prstGeom prst="rect">
            <a:avLst/>
          </a:prstGeom>
          <a:solidFill>
            <a:srgbClr val="0099CC"/>
          </a:solidFill>
          <a:ln w="12700">
            <a:solidFill>
              <a:srgbClr val="0099CC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337560" y="4142232"/>
            <a:ext cx="52578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6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Betting odds are price signals — they encode real-world judgment into one actionable figure. We need an equivalent signal layer for the Innovera Platform.</a:t>
            </a:r>
            <a:endParaRPr lang="en-US" sz="11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16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0" y="-914400"/>
            <a:ext cx="5029200" cy="5029200"/>
          </a:xfrm>
          <a:prstGeom prst="ellipse">
            <a:avLst/>
          </a:prstGeom>
          <a:solidFill>
            <a:srgbClr val="00C8FF">
              <a:alpha val="12000"/>
            </a:srgbClr>
          </a:solidFill>
          <a:ln w="12700">
            <a:solidFill>
              <a:srgbClr val="00C8FF">
                <a:alpha val="2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2011680" y="2286000"/>
            <a:ext cx="4389120" cy="4389120"/>
          </a:xfrm>
          <a:prstGeom prst="ellipse">
            <a:avLst/>
          </a:prstGeom>
          <a:solidFill>
            <a:srgbClr val="00C8FF">
              <a:alpha val="10000"/>
            </a:srgbClr>
          </a:solidFill>
          <a:ln w="12700">
            <a:solidFill>
              <a:srgbClr val="00C8FF">
                <a:alpha val="18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0C8FF"/>
          </a:solidFill>
          <a:ln w="12700">
            <a:solidFill>
              <a:srgbClr val="00C8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914400"/>
            <a:ext cx="7680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5600" dirty="0"/>
          </a:p>
        </p:txBody>
      </p:sp>
      <p:sp>
        <p:nvSpPr>
          <p:cNvPr id="6" name="Shape 4"/>
          <p:cNvSpPr/>
          <p:nvPr/>
        </p:nvSpPr>
        <p:spPr>
          <a:xfrm>
            <a:off x="3200400" y="2148840"/>
            <a:ext cx="2743200" cy="64008"/>
          </a:xfrm>
          <a:prstGeom prst="rect">
            <a:avLst/>
          </a:prstGeom>
          <a:solidFill>
            <a:srgbClr val="00C8FF"/>
          </a:solidFill>
          <a:ln w="12700">
            <a:solidFill>
              <a:srgbClr val="00C8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2331720"/>
            <a:ext cx="7680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Questions?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731520" y="3108960"/>
            <a:ext cx="7680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D6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Keepwatch  |  LLM + Monte Carlo EPL Probability Calculator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383280" y="3749040"/>
            <a:ext cx="2377440" cy="411480"/>
          </a:xfrm>
          <a:prstGeom prst="rect">
            <a:avLst/>
          </a:prstGeom>
          <a:solidFill>
            <a:srgbClr val="132052"/>
          </a:solidFill>
          <a:ln w="12700">
            <a:solidFill>
              <a:srgbClr val="00C8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383280" y="374904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Powered by LLM + Monte Carlo Simulation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Keepwatch – EPL Probability Calculator Demo</dc:title>
  <dc:subject>PptxGenJS Presentation</dc:subject>
  <dc:creator>PptxGenJS</dc:creator>
  <cp:lastModifiedBy>PptxGenJS</cp:lastModifiedBy>
  <cp:revision>1</cp:revision>
  <dcterms:created xsi:type="dcterms:W3CDTF">2026-03-27T16:49:12Z</dcterms:created>
  <dcterms:modified xsi:type="dcterms:W3CDTF">2026-03-27T16:49:12Z</dcterms:modified>
</cp:coreProperties>
</file>